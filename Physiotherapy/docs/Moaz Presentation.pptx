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4" r:id="rId6"/>
    <p:sldId id="275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Agrandir" panose="020B0604020202020204" charset="0"/>
      <p:regular r:id="rId27"/>
    </p:embeddedFont>
    <p:embeddedFont>
      <p:font typeface="Agrandir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svg"/><Relationship Id="rId18" Type="http://schemas.openxmlformats.org/officeDocument/2006/relationships/image" Target="../media/image3.gif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12" Type="http://schemas.openxmlformats.org/officeDocument/2006/relationships/image" Target="../media/image32.png"/><Relationship Id="rId17" Type="http://schemas.openxmlformats.org/officeDocument/2006/relationships/image" Target="../media/image37.sv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5" Type="http://schemas.openxmlformats.org/officeDocument/2006/relationships/image" Target="../media/image35.svg"/><Relationship Id="rId10" Type="http://schemas.openxmlformats.org/officeDocument/2006/relationships/image" Target="../media/image30.png"/><Relationship Id="rId19" Type="http://schemas.openxmlformats.org/officeDocument/2006/relationships/image" Target="../media/image2.gif"/><Relationship Id="rId4" Type="http://schemas.openxmlformats.org/officeDocument/2006/relationships/image" Target="../media/image24.png"/><Relationship Id="rId9" Type="http://schemas.openxmlformats.org/officeDocument/2006/relationships/image" Target="../media/image29.svg"/><Relationship Id="rId1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sv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gif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sv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gif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sv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gif"/><Relationship Id="rId9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sv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gif"/><Relationship Id="rId9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40.gi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svg"/><Relationship Id="rId11" Type="http://schemas.openxmlformats.org/officeDocument/2006/relationships/image" Target="../media/image55.pn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42.svg"/><Relationship Id="rId9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svg"/><Relationship Id="rId11" Type="http://schemas.openxmlformats.org/officeDocument/2006/relationships/image" Target="../media/image56.pn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42.svg"/><Relationship Id="rId9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sv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gif"/><Relationship Id="rId9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gif"/><Relationship Id="rId4" Type="http://schemas.openxmlformats.org/officeDocument/2006/relationships/image" Target="../media/image5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10800000">
            <a:off x="6333452" y="-1797179"/>
            <a:ext cx="15735219" cy="13881357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3000871" y="3783471"/>
            <a:ext cx="12286259" cy="2720058"/>
            <a:chOff x="0" y="0"/>
            <a:chExt cx="16381678" cy="3626745"/>
          </a:xfrm>
        </p:grpSpPr>
        <p:sp>
          <p:nvSpPr>
            <p:cNvPr id="4" name="TextBox 4"/>
            <p:cNvSpPr txBox="1"/>
            <p:nvPr/>
          </p:nvSpPr>
          <p:spPr>
            <a:xfrm>
              <a:off x="0" y="-221615"/>
              <a:ext cx="16381678" cy="2750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667"/>
                </a:lnSpc>
              </a:pPr>
              <a:r>
                <a:rPr lang="en-US" sz="12425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Physio-Therapy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864904"/>
              <a:ext cx="16381678" cy="761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6"/>
                </a:lnSpc>
                <a:spcBef>
                  <a:spcPct val="0"/>
                </a:spcBef>
              </a:pPr>
              <a:r>
                <a:rPr lang="en-US" sz="3004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AI-Powered</a:t>
              </a: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-7199120">
            <a:off x="-2896988" y="-1002021"/>
            <a:ext cx="5793977" cy="5895448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-2788012" y="9105900"/>
            <a:ext cx="12400878" cy="609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6"/>
              </a:lnSpc>
              <a:spcBef>
                <a:spcPct val="0"/>
              </a:spcBef>
            </a:pPr>
            <a:r>
              <a:rPr lang="en-US" sz="3004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By: Moaz Mahmoud 227374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0855" y="2987543"/>
            <a:ext cx="6907145" cy="868440"/>
            <a:chOff x="0" y="0"/>
            <a:chExt cx="9209527" cy="1157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Introduction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1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380855" y="4276223"/>
            <a:ext cx="6907145" cy="868440"/>
            <a:chOff x="0" y="0"/>
            <a:chExt cx="9209527" cy="1157920"/>
          </a:xfrm>
        </p:grpSpPr>
        <p:sp>
          <p:nvSpPr>
            <p:cNvPr id="7" name="TextBox 7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Problem Statement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380855" y="5563763"/>
            <a:ext cx="6907145" cy="868440"/>
            <a:chOff x="0" y="0"/>
            <a:chExt cx="9209527" cy="1157920"/>
          </a:xfrm>
        </p:grpSpPr>
        <p:sp>
          <p:nvSpPr>
            <p:cNvPr id="11" name="TextBox 11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Proposed Solution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380855" y="6853585"/>
            <a:ext cx="6907145" cy="868440"/>
            <a:chOff x="0" y="0"/>
            <a:chExt cx="9209527" cy="1157920"/>
          </a:xfrm>
        </p:grpSpPr>
        <p:sp>
          <p:nvSpPr>
            <p:cNvPr id="15" name="TextBox 15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Conclusion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4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380855" y="8141124"/>
            <a:ext cx="6907145" cy="868440"/>
            <a:chOff x="0" y="0"/>
            <a:chExt cx="9209527" cy="1157920"/>
          </a:xfrm>
        </p:grpSpPr>
        <p:sp>
          <p:nvSpPr>
            <p:cNvPr id="19" name="TextBox 19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Future Work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5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628493" y="2653242"/>
            <a:ext cx="3390230" cy="6746727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6324539" y="2653242"/>
            <a:ext cx="3392424" cy="6748272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6324539" y="2663726"/>
            <a:ext cx="3390231" cy="6748272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6323442" y="2653242"/>
            <a:ext cx="3392424" cy="6748272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6323442" y="2663726"/>
            <a:ext cx="3392424" cy="674827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628493" y="896488"/>
            <a:ext cx="6780460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Agenda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07540" y="2020438"/>
            <a:ext cx="6780460" cy="54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Topics Covered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10800000">
            <a:off x="7788884" y="-1797179"/>
            <a:ext cx="15735219" cy="13881357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9799831" y="2505335"/>
            <a:ext cx="3202318" cy="6356958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040374" y="2505335"/>
            <a:ext cx="3200400" cy="6356958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632846"/>
            <a:ext cx="7729865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6E6297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505335"/>
            <a:ext cx="7729865" cy="691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Physical therapy demands continuous connection between patients and providers</a:t>
            </a:r>
          </a:p>
          <a:p>
            <a:pPr algn="l">
              <a:lnSpc>
                <a:spcPts val="3640"/>
              </a:lnSpc>
            </a:pPr>
            <a:endParaRPr lang="en-US" sz="2600" b="1">
              <a:solidFill>
                <a:srgbClr val="2B2B2B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Interruptions in care can delay recovery and increase the risk of reinjury</a:t>
            </a:r>
          </a:p>
          <a:p>
            <a:pPr algn="l">
              <a:lnSpc>
                <a:spcPts val="3640"/>
              </a:lnSpc>
            </a:pPr>
            <a:endParaRPr lang="en-US" sz="2600" b="1">
              <a:solidFill>
                <a:srgbClr val="2B2B2B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Traditional rehab struggles with care gaps</a:t>
            </a:r>
          </a:p>
          <a:p>
            <a:pPr algn="l">
              <a:lnSpc>
                <a:spcPts val="3640"/>
              </a:lnSpc>
            </a:pPr>
            <a:endParaRPr lang="en-US" sz="2600" b="1">
              <a:solidFill>
                <a:srgbClr val="2B2B2B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use of AI, ML, and computer vision to maintain care continuity </a:t>
            </a:r>
          </a:p>
          <a:p>
            <a:pPr algn="l">
              <a:lnSpc>
                <a:spcPts val="3640"/>
              </a:lnSpc>
            </a:pPr>
            <a:endParaRPr lang="en-US" sz="2600" b="1">
              <a:solidFill>
                <a:srgbClr val="2B2B2B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Ensuring verified medical supervision, 24/7 accessibility, and enhanced patient engagement.</a:t>
            </a:r>
          </a:p>
          <a:p>
            <a:pPr algn="l">
              <a:lnSpc>
                <a:spcPts val="3640"/>
              </a:lnSpc>
            </a:pPr>
            <a:endParaRPr lang="en-US" sz="2600" b="1">
              <a:solidFill>
                <a:srgbClr val="2B2B2B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1979" y="2758884"/>
            <a:ext cx="3920142" cy="3549004"/>
            <a:chOff x="0" y="0"/>
            <a:chExt cx="5580380" cy="5052060"/>
          </a:xfrm>
        </p:grpSpPr>
        <p:sp>
          <p:nvSpPr>
            <p:cNvPr id="3" name="Freeform 3"/>
            <p:cNvSpPr/>
            <p:nvPr/>
          </p:nvSpPr>
          <p:spPr>
            <a:xfrm>
              <a:off x="-635000" y="-673100"/>
              <a:ext cx="6488430" cy="6027420"/>
            </a:xfrm>
            <a:custGeom>
              <a:avLst/>
              <a:gdLst/>
              <a:ahLst/>
              <a:cxnLst/>
              <a:rect l="l" t="t" r="r" b="b"/>
              <a:pathLst>
                <a:path w="6488430" h="6027420">
                  <a:moveTo>
                    <a:pt x="5344160" y="1055370"/>
                  </a:moveTo>
                  <a:cubicBezTo>
                    <a:pt x="4573270" y="651510"/>
                    <a:pt x="3856990" y="1112520"/>
                    <a:pt x="3284220" y="1112520"/>
                  </a:cubicBezTo>
                  <a:cubicBezTo>
                    <a:pt x="2839720" y="1112520"/>
                    <a:pt x="2001520" y="0"/>
                    <a:pt x="1000760" y="1314450"/>
                  </a:cubicBezTo>
                  <a:cubicBezTo>
                    <a:pt x="0" y="2628900"/>
                    <a:pt x="1247140" y="3865880"/>
                    <a:pt x="2368550" y="4946650"/>
                  </a:cubicBezTo>
                  <a:cubicBezTo>
                    <a:pt x="3489960" y="6027420"/>
                    <a:pt x="5013960" y="6009640"/>
                    <a:pt x="5894070" y="4725670"/>
                  </a:cubicBezTo>
                  <a:cubicBezTo>
                    <a:pt x="6488430" y="3859530"/>
                    <a:pt x="6229350" y="1520190"/>
                    <a:pt x="5344160" y="1055370"/>
                  </a:cubicBezTo>
                  <a:close/>
                </a:path>
              </a:pathLst>
            </a:custGeom>
            <a:blipFill>
              <a:blip r:embed="rId2"/>
              <a:stretch>
                <a:fillRect t="-32893" b="-3289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222463" y="2758884"/>
            <a:ext cx="3920142" cy="3549004"/>
            <a:chOff x="0" y="0"/>
            <a:chExt cx="6853369" cy="6204529"/>
          </a:xfrm>
        </p:grpSpPr>
        <p:sp>
          <p:nvSpPr>
            <p:cNvPr id="5" name="Freeform 5"/>
            <p:cNvSpPr/>
            <p:nvPr/>
          </p:nvSpPr>
          <p:spPr>
            <a:xfrm>
              <a:off x="-519430" y="-910590"/>
              <a:ext cx="8259258" cy="7173539"/>
            </a:xfrm>
            <a:custGeom>
              <a:avLst/>
              <a:gdLst/>
              <a:ahLst/>
              <a:cxnLst/>
              <a:rect l="l" t="t" r="r" b="b"/>
              <a:pathLst>
                <a:path w="8259258" h="7173539">
                  <a:moveTo>
                    <a:pt x="3205426" y="5812319"/>
                  </a:moveTo>
                  <a:cubicBezTo>
                    <a:pt x="4916948" y="5812319"/>
                    <a:pt x="3994911" y="7173539"/>
                    <a:pt x="5764697" y="7104552"/>
                  </a:cubicBezTo>
                  <a:cubicBezTo>
                    <a:pt x="7273749" y="7036619"/>
                    <a:pt x="8259258" y="3976624"/>
                    <a:pt x="5895792" y="2548526"/>
                  </a:cubicBezTo>
                  <a:cubicBezTo>
                    <a:pt x="3904601" y="1407255"/>
                    <a:pt x="646155" y="0"/>
                    <a:pt x="1104989" y="2003554"/>
                  </a:cubicBezTo>
                  <a:cubicBezTo>
                    <a:pt x="1563822" y="4178913"/>
                    <a:pt x="0" y="4859750"/>
                    <a:pt x="777251" y="6016118"/>
                  </a:cubicBezTo>
                  <a:cubicBezTo>
                    <a:pt x="1630826" y="7163379"/>
                    <a:pt x="1694917" y="5812319"/>
                    <a:pt x="3205426" y="5812319"/>
                  </a:cubicBezTo>
                  <a:close/>
                </a:path>
              </a:pathLst>
            </a:custGeom>
            <a:blipFill>
              <a:blip r:embed="rId3"/>
              <a:stretch>
                <a:fillRect l="-7225" t="-1365" r="-7599" b="-13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842693" y="2758884"/>
            <a:ext cx="3920142" cy="3549004"/>
            <a:chOff x="0" y="0"/>
            <a:chExt cx="3414197" cy="30909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14197" cy="3090959"/>
            </a:xfrm>
            <a:custGeom>
              <a:avLst/>
              <a:gdLst/>
              <a:ahLst/>
              <a:cxnLst/>
              <a:rect l="l" t="t" r="r" b="b"/>
              <a:pathLst>
                <a:path w="3414197" h="3090959">
                  <a:moveTo>
                    <a:pt x="3108799" y="913152"/>
                  </a:moveTo>
                  <a:cubicBezTo>
                    <a:pt x="3279334" y="923518"/>
                    <a:pt x="3414197" y="1050738"/>
                    <a:pt x="3412457" y="1246750"/>
                  </a:cubicBezTo>
                  <a:cubicBezTo>
                    <a:pt x="3410717" y="1433338"/>
                    <a:pt x="3270634" y="1584117"/>
                    <a:pt x="3097488" y="1584117"/>
                  </a:cubicBezTo>
                  <a:cubicBezTo>
                    <a:pt x="2952184" y="1602964"/>
                    <a:pt x="2669408" y="1708509"/>
                    <a:pt x="2786869" y="1930907"/>
                  </a:cubicBezTo>
                  <a:cubicBezTo>
                    <a:pt x="2843424" y="2038337"/>
                    <a:pt x="2917381" y="2092994"/>
                    <a:pt x="2919991" y="2227753"/>
                  </a:cubicBezTo>
                  <a:cubicBezTo>
                    <a:pt x="2924341" y="2449208"/>
                    <a:pt x="2725093" y="2654644"/>
                    <a:pt x="2518014" y="2599987"/>
                  </a:cubicBezTo>
                  <a:cubicBezTo>
                    <a:pt x="2459718" y="2584909"/>
                    <a:pt x="2404903" y="2553811"/>
                    <a:pt x="2350088" y="2529310"/>
                  </a:cubicBezTo>
                  <a:cubicBezTo>
                    <a:pt x="2107336" y="2419053"/>
                    <a:pt x="1838481" y="2462401"/>
                    <a:pt x="1621831" y="2620719"/>
                  </a:cubicBezTo>
                  <a:cubicBezTo>
                    <a:pt x="1439114" y="2753593"/>
                    <a:pt x="1305121" y="2960913"/>
                    <a:pt x="1083251" y="3024051"/>
                  </a:cubicBezTo>
                  <a:cubicBezTo>
                    <a:pt x="847459" y="3090959"/>
                    <a:pt x="586434" y="3034417"/>
                    <a:pt x="399367" y="2862907"/>
                  </a:cubicBezTo>
                  <a:cubicBezTo>
                    <a:pt x="239272" y="2714013"/>
                    <a:pt x="136603" y="2489730"/>
                    <a:pt x="138343" y="2261678"/>
                  </a:cubicBezTo>
                  <a:cubicBezTo>
                    <a:pt x="140083" y="2021374"/>
                    <a:pt x="250583" y="1802746"/>
                    <a:pt x="291477" y="1569981"/>
                  </a:cubicBezTo>
                  <a:cubicBezTo>
                    <a:pt x="314969" y="1433338"/>
                    <a:pt x="314969" y="1285387"/>
                    <a:pt x="269725" y="1153456"/>
                  </a:cubicBezTo>
                  <a:cubicBezTo>
                    <a:pt x="223611" y="1022467"/>
                    <a:pt x="121811" y="940481"/>
                    <a:pt x="61776" y="819858"/>
                  </a:cubicBezTo>
                  <a:cubicBezTo>
                    <a:pt x="22622" y="741642"/>
                    <a:pt x="0" y="651175"/>
                    <a:pt x="0" y="555996"/>
                  </a:cubicBezTo>
                  <a:cubicBezTo>
                    <a:pt x="0" y="248785"/>
                    <a:pt x="229701" y="0"/>
                    <a:pt x="513348" y="0"/>
                  </a:cubicBezTo>
                  <a:cubicBezTo>
                    <a:pt x="593395" y="0"/>
                    <a:pt x="673443" y="20732"/>
                    <a:pt x="744789" y="59369"/>
                  </a:cubicBezTo>
                  <a:cubicBezTo>
                    <a:pt x="871821" y="129104"/>
                    <a:pt x="950128" y="262920"/>
                    <a:pt x="1076290" y="335482"/>
                  </a:cubicBezTo>
                  <a:cubicBezTo>
                    <a:pt x="1287720" y="457047"/>
                    <a:pt x="1472177" y="388255"/>
                    <a:pt x="1691437" y="345848"/>
                  </a:cubicBezTo>
                  <a:cubicBezTo>
                    <a:pt x="1830650" y="318520"/>
                    <a:pt x="2008147" y="320404"/>
                    <a:pt x="2136048" y="394851"/>
                  </a:cubicBezTo>
                  <a:cubicBezTo>
                    <a:pt x="2242198" y="456105"/>
                    <a:pt x="2303104" y="583324"/>
                    <a:pt x="2357919" y="693581"/>
                  </a:cubicBezTo>
                  <a:cubicBezTo>
                    <a:pt x="2509313" y="995138"/>
                    <a:pt x="2831243" y="898075"/>
                    <a:pt x="3099228" y="912210"/>
                  </a:cubicBezTo>
                  <a:cubicBezTo>
                    <a:pt x="3103578" y="912210"/>
                    <a:pt x="3106189" y="913152"/>
                    <a:pt x="3108799" y="913152"/>
                  </a:cubicBezTo>
                  <a:close/>
                </a:path>
              </a:pathLst>
            </a:custGeom>
            <a:blipFill>
              <a:blip r:embed="rId4"/>
              <a:stretch>
                <a:fillRect t="-33301" b="-333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64507" y="7351492"/>
            <a:ext cx="4415087" cy="1973483"/>
            <a:chOff x="0" y="0"/>
            <a:chExt cx="5886783" cy="2631311"/>
          </a:xfrm>
        </p:grpSpPr>
        <p:sp>
          <p:nvSpPr>
            <p:cNvPr id="9" name="TextBox 9"/>
            <p:cNvSpPr txBox="1"/>
            <p:nvPr/>
          </p:nvSpPr>
          <p:spPr>
            <a:xfrm>
              <a:off x="0" y="-123825"/>
              <a:ext cx="5886783" cy="1349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en-US" sz="28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Lack of Continuous Support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559643"/>
              <a:ext cx="5886783" cy="1071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en-US" sz="22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Patients are left unsupervised between sessions and vacations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773939" y="7351492"/>
            <a:ext cx="4057650" cy="1973483"/>
            <a:chOff x="0" y="0"/>
            <a:chExt cx="5410200" cy="2631311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123825"/>
              <a:ext cx="5410200" cy="1349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en-US" sz="28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Traditional Rehab Issue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559643"/>
              <a:ext cx="5410200" cy="1071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en-US" sz="22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</a:t>
              </a:r>
              <a:r>
                <a:rPr lang="en-US" sz="220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raditional rehab models fail during and public crises.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25934" y="7351492"/>
            <a:ext cx="4513199" cy="1973483"/>
            <a:chOff x="0" y="0"/>
            <a:chExt cx="6017599" cy="2631311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123825"/>
              <a:ext cx="6017599" cy="1349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en-US" sz="28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Vagueness of Medical Reports 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559643"/>
              <a:ext cx="6017599" cy="1071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en-US" sz="22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Pat</a:t>
              </a:r>
              <a:r>
                <a:rPr lang="en-US" sz="220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ients struggle to understand Medical reports terms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930182" y="838200"/>
            <a:ext cx="14427636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Problem Statement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534383" y="7351492"/>
            <a:ext cx="4274616" cy="1973483"/>
            <a:chOff x="0" y="0"/>
            <a:chExt cx="5699488" cy="2631311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123825"/>
              <a:ext cx="5699488" cy="1349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Rural Areas </a:t>
              </a:r>
            </a:p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en-US" sz="28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isolation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559643"/>
              <a:ext cx="5699488" cy="1071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en-US" sz="22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Ru</a:t>
              </a:r>
              <a:r>
                <a:rPr lang="en-US" sz="220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ral areas face limited access to specialized physical therapy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711620" y="2758884"/>
            <a:ext cx="3920142" cy="3549004"/>
            <a:chOff x="0" y="0"/>
            <a:chExt cx="6386752" cy="5782089"/>
          </a:xfrm>
        </p:grpSpPr>
        <p:sp>
          <p:nvSpPr>
            <p:cNvPr id="22" name="Freeform 22"/>
            <p:cNvSpPr/>
            <p:nvPr/>
          </p:nvSpPr>
          <p:spPr>
            <a:xfrm>
              <a:off x="-635000" y="-673100"/>
              <a:ext cx="7294802" cy="6757449"/>
            </a:xfrm>
            <a:custGeom>
              <a:avLst/>
              <a:gdLst/>
              <a:ahLst/>
              <a:cxnLst/>
              <a:rect l="l" t="t" r="r" b="b"/>
              <a:pathLst>
                <a:path w="7294802" h="6757449">
                  <a:moveTo>
                    <a:pt x="6024640" y="1110609"/>
                  </a:moveTo>
                  <a:cubicBezTo>
                    <a:pt x="5142355" y="651510"/>
                    <a:pt x="4322572" y="1176017"/>
                    <a:pt x="3667035" y="1176017"/>
                  </a:cubicBezTo>
                  <a:cubicBezTo>
                    <a:pt x="3158305" y="1176017"/>
                    <a:pt x="2198984" y="0"/>
                    <a:pt x="1053613" y="1407126"/>
                  </a:cubicBezTo>
                  <a:cubicBezTo>
                    <a:pt x="0" y="2911516"/>
                    <a:pt x="1335595" y="4327241"/>
                    <a:pt x="2619050" y="5564184"/>
                  </a:cubicBezTo>
                  <a:cubicBezTo>
                    <a:pt x="3902505" y="6757449"/>
                    <a:pt x="5646725" y="6739669"/>
                    <a:pt x="6654012" y="5311272"/>
                  </a:cubicBezTo>
                  <a:cubicBezTo>
                    <a:pt x="7294802" y="4319974"/>
                    <a:pt x="7035722" y="1642596"/>
                    <a:pt x="6024640" y="1110609"/>
                  </a:cubicBezTo>
                  <a:close/>
                </a:path>
              </a:pathLst>
            </a:custGeom>
            <a:blipFill>
              <a:blip r:embed="rId5"/>
              <a:stretch>
                <a:fillRect l="-8541" t="-754" r="-8207" b="-56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4901" y="4424362"/>
            <a:ext cx="9398198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6E6297"/>
                </a:solidFill>
                <a:latin typeface="Agrandir Bold"/>
                <a:ea typeface="Agrandir Bold"/>
                <a:cs typeface="Agrandir Bold"/>
                <a:sym typeface="Agrandir Bold"/>
              </a:rPr>
              <a:t>Related Work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03768" y="3794774"/>
            <a:ext cx="2942169" cy="5987536"/>
          </a:xfrm>
          <a:custGeom>
            <a:avLst/>
            <a:gdLst/>
            <a:ahLst/>
            <a:cxnLst/>
            <a:rect l="l" t="t" r="r" b="b"/>
            <a:pathLst>
              <a:path w="2942169" h="5987536">
                <a:moveTo>
                  <a:pt x="0" y="0"/>
                </a:moveTo>
                <a:lnTo>
                  <a:pt x="2942169" y="0"/>
                </a:lnTo>
                <a:lnTo>
                  <a:pt x="2942169" y="5987537"/>
                </a:lnTo>
                <a:lnTo>
                  <a:pt x="0" y="5987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973" b="-3222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371501" y="3794774"/>
            <a:ext cx="2887799" cy="5987536"/>
          </a:xfrm>
          <a:custGeom>
            <a:avLst/>
            <a:gdLst/>
            <a:ahLst/>
            <a:cxnLst/>
            <a:rect l="l" t="t" r="r" b="b"/>
            <a:pathLst>
              <a:path w="2887799" h="5987536">
                <a:moveTo>
                  <a:pt x="0" y="0"/>
                </a:moveTo>
                <a:lnTo>
                  <a:pt x="2887799" y="0"/>
                </a:lnTo>
                <a:lnTo>
                  <a:pt x="2887799" y="5987537"/>
                </a:lnTo>
                <a:lnTo>
                  <a:pt x="0" y="59875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906" b="-2271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6060574" y="2416202"/>
            <a:ext cx="0" cy="75078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3332128" y="2416202"/>
            <a:ext cx="0" cy="75078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480422" y="3794774"/>
            <a:ext cx="3023706" cy="5987536"/>
          </a:xfrm>
          <a:custGeom>
            <a:avLst/>
            <a:gdLst/>
            <a:ahLst/>
            <a:cxnLst/>
            <a:rect l="l" t="t" r="r" b="b"/>
            <a:pathLst>
              <a:path w="3023706" h="5987536">
                <a:moveTo>
                  <a:pt x="0" y="0"/>
                </a:moveTo>
                <a:lnTo>
                  <a:pt x="3023706" y="0"/>
                </a:lnTo>
                <a:lnTo>
                  <a:pt x="3023706" y="5987537"/>
                </a:lnTo>
                <a:lnTo>
                  <a:pt x="0" y="59875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837418" y="309562"/>
            <a:ext cx="8781170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6E6297"/>
                </a:solidFill>
                <a:latin typeface="Agrandir Bold"/>
                <a:ea typeface="Agrandir Bold"/>
                <a:cs typeface="Agrandir Bold"/>
                <a:sym typeface="Agrandir Bold"/>
              </a:rPr>
              <a:t>Similar Applications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8040" y="2273327"/>
            <a:ext cx="4393625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Vezeeta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0081" y="3033260"/>
            <a:ext cx="5009543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0"/>
              </a:lnSpc>
            </a:pPr>
            <a:r>
              <a:rPr lang="en-US" sz="24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Connecting with Doctors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618588" y="2273327"/>
            <a:ext cx="4393625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Ada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618588" y="2966342"/>
            <a:ext cx="4393625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0"/>
              </a:lnSpc>
            </a:pPr>
            <a:r>
              <a:rPr lang="en-US" sz="24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Symptom Classification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53748" y="2254277"/>
            <a:ext cx="3535178" cy="70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6E6297"/>
                </a:solidFill>
                <a:latin typeface="Agrandir Bold"/>
                <a:ea typeface="Agrandir Bold"/>
                <a:cs typeface="Agrandir Bold"/>
                <a:sym typeface="Agrandir Bold"/>
              </a:rPr>
              <a:t>Physiotherapy</a:t>
            </a:r>
          </a:p>
        </p:txBody>
      </p:sp>
      <p:sp>
        <p:nvSpPr>
          <p:cNvPr id="13" name="Freeform 13"/>
          <p:cNvSpPr/>
          <p:nvPr/>
        </p:nvSpPr>
        <p:spPr>
          <a:xfrm>
            <a:off x="9894653" y="3794774"/>
            <a:ext cx="3023706" cy="5987536"/>
          </a:xfrm>
          <a:custGeom>
            <a:avLst/>
            <a:gdLst/>
            <a:ahLst/>
            <a:cxnLst/>
            <a:rect l="l" t="t" r="r" b="b"/>
            <a:pathLst>
              <a:path w="3023706" h="5987536">
                <a:moveTo>
                  <a:pt x="0" y="0"/>
                </a:moveTo>
                <a:lnTo>
                  <a:pt x="3023706" y="0"/>
                </a:lnTo>
                <a:lnTo>
                  <a:pt x="3023706" y="5987537"/>
                </a:lnTo>
                <a:lnTo>
                  <a:pt x="0" y="59875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86" t="-418" b="-418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4901" y="4424362"/>
            <a:ext cx="9398198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6E6297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Proposed Solution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65034" y="878304"/>
            <a:ext cx="1797669" cy="1851531"/>
            <a:chOff x="0" y="0"/>
            <a:chExt cx="2396892" cy="24687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96892" cy="2468709"/>
            </a:xfrm>
            <a:custGeom>
              <a:avLst/>
              <a:gdLst/>
              <a:ahLst/>
              <a:cxnLst/>
              <a:rect l="l" t="t" r="r" b="b"/>
              <a:pathLst>
                <a:path w="2396892" h="2468709">
                  <a:moveTo>
                    <a:pt x="0" y="0"/>
                  </a:moveTo>
                  <a:lnTo>
                    <a:pt x="2396892" y="0"/>
                  </a:lnTo>
                  <a:lnTo>
                    <a:pt x="2396892" y="2468709"/>
                  </a:lnTo>
                  <a:lnTo>
                    <a:pt x="0" y="2468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659855" y="796627"/>
              <a:ext cx="1077181" cy="875454"/>
            </a:xfrm>
            <a:custGeom>
              <a:avLst/>
              <a:gdLst/>
              <a:ahLst/>
              <a:cxnLst/>
              <a:rect l="l" t="t" r="r" b="b"/>
              <a:pathLst>
                <a:path w="1077181" h="875454">
                  <a:moveTo>
                    <a:pt x="0" y="0"/>
                  </a:moveTo>
                  <a:lnTo>
                    <a:pt x="1077181" y="0"/>
                  </a:lnTo>
                  <a:lnTo>
                    <a:pt x="1077181" y="875454"/>
                  </a:lnTo>
                  <a:lnTo>
                    <a:pt x="0" y="875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01760" y="5288968"/>
            <a:ext cx="1924218" cy="1798269"/>
            <a:chOff x="0" y="0"/>
            <a:chExt cx="2565623" cy="23976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65623" cy="2397692"/>
            </a:xfrm>
            <a:custGeom>
              <a:avLst/>
              <a:gdLst/>
              <a:ahLst/>
              <a:cxnLst/>
              <a:rect l="l" t="t" r="r" b="b"/>
              <a:pathLst>
                <a:path w="2565623" h="2397692">
                  <a:moveTo>
                    <a:pt x="0" y="0"/>
                  </a:moveTo>
                  <a:lnTo>
                    <a:pt x="2565623" y="0"/>
                  </a:lnTo>
                  <a:lnTo>
                    <a:pt x="2565623" y="2397692"/>
                  </a:lnTo>
                  <a:lnTo>
                    <a:pt x="0" y="2397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841914" y="757948"/>
              <a:ext cx="881795" cy="881795"/>
            </a:xfrm>
            <a:custGeom>
              <a:avLst/>
              <a:gdLst/>
              <a:ahLst/>
              <a:cxnLst/>
              <a:rect l="l" t="t" r="r" b="b"/>
              <a:pathLst>
                <a:path w="881795" h="881795">
                  <a:moveTo>
                    <a:pt x="0" y="0"/>
                  </a:moveTo>
                  <a:lnTo>
                    <a:pt x="881795" y="0"/>
                  </a:lnTo>
                  <a:lnTo>
                    <a:pt x="881795" y="881796"/>
                  </a:lnTo>
                  <a:lnTo>
                    <a:pt x="0" y="881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036620" y="931567"/>
            <a:ext cx="1924218" cy="1798269"/>
            <a:chOff x="0" y="0"/>
            <a:chExt cx="2565623" cy="23976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65623" cy="2397692"/>
            </a:xfrm>
            <a:custGeom>
              <a:avLst/>
              <a:gdLst/>
              <a:ahLst/>
              <a:cxnLst/>
              <a:rect l="l" t="t" r="r" b="b"/>
              <a:pathLst>
                <a:path w="2565623" h="2397692">
                  <a:moveTo>
                    <a:pt x="0" y="0"/>
                  </a:moveTo>
                  <a:lnTo>
                    <a:pt x="2565623" y="0"/>
                  </a:lnTo>
                  <a:lnTo>
                    <a:pt x="2565623" y="2397692"/>
                  </a:lnTo>
                  <a:lnTo>
                    <a:pt x="0" y="2397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938997" y="761119"/>
              <a:ext cx="687630" cy="875454"/>
            </a:xfrm>
            <a:custGeom>
              <a:avLst/>
              <a:gdLst/>
              <a:ahLst/>
              <a:cxnLst/>
              <a:rect l="l" t="t" r="r" b="b"/>
              <a:pathLst>
                <a:path w="687630" h="875454">
                  <a:moveTo>
                    <a:pt x="0" y="0"/>
                  </a:moveTo>
                  <a:lnTo>
                    <a:pt x="687629" y="0"/>
                  </a:lnTo>
                  <a:lnTo>
                    <a:pt x="687629" y="875454"/>
                  </a:lnTo>
                  <a:lnTo>
                    <a:pt x="0" y="875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099894" y="5235705"/>
            <a:ext cx="1797669" cy="1851531"/>
            <a:chOff x="0" y="0"/>
            <a:chExt cx="2396892" cy="246870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96892" cy="2468709"/>
            </a:xfrm>
            <a:custGeom>
              <a:avLst/>
              <a:gdLst/>
              <a:ahLst/>
              <a:cxnLst/>
              <a:rect l="l" t="t" r="r" b="b"/>
              <a:pathLst>
                <a:path w="2396892" h="2468709">
                  <a:moveTo>
                    <a:pt x="0" y="0"/>
                  </a:moveTo>
                  <a:lnTo>
                    <a:pt x="2396892" y="0"/>
                  </a:lnTo>
                  <a:lnTo>
                    <a:pt x="2396892" y="2468709"/>
                  </a:lnTo>
                  <a:lnTo>
                    <a:pt x="0" y="2468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721096" y="793457"/>
              <a:ext cx="954700" cy="881795"/>
            </a:xfrm>
            <a:custGeom>
              <a:avLst/>
              <a:gdLst/>
              <a:ahLst/>
              <a:cxnLst/>
              <a:rect l="l" t="t" r="r" b="b"/>
              <a:pathLst>
                <a:path w="954700" h="881795">
                  <a:moveTo>
                    <a:pt x="0" y="0"/>
                  </a:moveTo>
                  <a:lnTo>
                    <a:pt x="954700" y="0"/>
                  </a:lnTo>
                  <a:lnTo>
                    <a:pt x="954700" y="881795"/>
                  </a:lnTo>
                  <a:lnTo>
                    <a:pt x="0" y="881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89148" y="4424362"/>
            <a:ext cx="6313699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6E6297"/>
                </a:solidFill>
                <a:latin typeface="Agrandir Bold"/>
                <a:ea typeface="Agrandir Bold"/>
                <a:cs typeface="Agrandir Bold"/>
                <a:sym typeface="Agrandir Bold"/>
              </a:rPr>
              <a:t>Key Feautres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704599" y="2948742"/>
            <a:ext cx="3318539" cy="2012099"/>
            <a:chOff x="0" y="0"/>
            <a:chExt cx="4424719" cy="2682798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114300"/>
              <a:ext cx="4424719" cy="11032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20"/>
                </a:lnSpc>
                <a:spcBef>
                  <a:spcPct val="0"/>
                </a:spcBef>
              </a:pPr>
              <a:r>
                <a:rPr lang="en-US" sz="2300" b="1" u="non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Automated MRI report analysis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236057"/>
              <a:ext cx="4424719" cy="14467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using OCR and OpenAI </a:t>
              </a:r>
              <a:r>
                <a:rPr lang="en-US" sz="200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language models for accurate injury insights.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704599" y="7375695"/>
            <a:ext cx="3318539" cy="2012099"/>
            <a:chOff x="0" y="0"/>
            <a:chExt cx="4424719" cy="2682798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114300"/>
              <a:ext cx="4424719" cy="11032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20"/>
                </a:lnSpc>
                <a:spcBef>
                  <a:spcPct val="0"/>
                </a:spcBef>
              </a:pPr>
              <a:r>
                <a:rPr lang="en-US" sz="23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Exerc</a:t>
              </a:r>
              <a:r>
                <a:rPr lang="en-US" sz="2300" b="1" u="non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ise </a:t>
              </a:r>
            </a:p>
            <a:p>
              <a:pPr marL="0" lvl="0" indent="0" algn="ctr">
                <a:lnSpc>
                  <a:spcPts val="3220"/>
                </a:lnSpc>
                <a:spcBef>
                  <a:spcPct val="0"/>
                </a:spcBef>
              </a:pPr>
              <a:r>
                <a:rPr lang="en-US" sz="2300" b="1" u="non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guidance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236057"/>
              <a:ext cx="4424719" cy="14467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Detai</a:t>
              </a:r>
              <a:r>
                <a:rPr lang="en-US" sz="200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led visuals and real-time posture correction using MediaPipe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339459" y="2948742"/>
            <a:ext cx="3318539" cy="2012099"/>
            <a:chOff x="0" y="0"/>
            <a:chExt cx="4424719" cy="2682798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114300"/>
              <a:ext cx="4424719" cy="11032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20"/>
                </a:lnSpc>
                <a:spcBef>
                  <a:spcPct val="0"/>
                </a:spcBef>
              </a:pPr>
              <a:r>
                <a:rPr lang="en-US" sz="23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Custom</a:t>
              </a:r>
              <a:r>
                <a:rPr lang="en-US" sz="2300" b="1" u="non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rehabilitation plans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236057"/>
              <a:ext cx="4424719" cy="14467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</a:t>
              </a:r>
              <a:r>
                <a:rPr lang="en-US" sz="200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ailored by doctors and updated dynamically with a smart scheduling algorithm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339459" y="7375695"/>
            <a:ext cx="3318539" cy="2121319"/>
            <a:chOff x="0" y="0"/>
            <a:chExt cx="4424719" cy="2828425"/>
          </a:xfrm>
        </p:grpSpPr>
        <p:sp>
          <p:nvSpPr>
            <p:cNvPr id="25" name="TextBox 25"/>
            <p:cNvSpPr txBox="1"/>
            <p:nvPr/>
          </p:nvSpPr>
          <p:spPr>
            <a:xfrm>
              <a:off x="0" y="-114300"/>
              <a:ext cx="4424719" cy="11032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20"/>
                </a:lnSpc>
                <a:spcBef>
                  <a:spcPct val="0"/>
                </a:spcBef>
              </a:pPr>
              <a:r>
                <a:rPr lang="en-US" sz="2300" b="1" u="non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AI-powered injury prevention plans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236057"/>
              <a:ext cx="4424719" cy="1592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en-US" sz="22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tai</a:t>
              </a:r>
              <a:r>
                <a:rPr lang="en-US" sz="220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lored to each user’s physical profile and risk factors</a:t>
              </a:r>
            </a:p>
          </p:txBody>
        </p:sp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18">
            <a:alphaModFix amt="25000"/>
          </a:blip>
          <a:srcRect/>
          <a:stretch>
            <a:fillRect/>
          </a:stretch>
        </p:blipFill>
        <p:spPr>
          <a:xfrm rot="-7199120">
            <a:off x="-2896988" y="-1002021"/>
            <a:ext cx="5793977" cy="5895448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9">
            <a:alphaModFix amt="50000"/>
          </a:blip>
          <a:srcRect/>
          <a:stretch>
            <a:fillRect/>
          </a:stretch>
        </p:blipFill>
        <p:spPr>
          <a:xfrm>
            <a:off x="-2318726" y="-376453"/>
            <a:ext cx="9743013" cy="17099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21370" y="1801522"/>
            <a:ext cx="337930" cy="337930"/>
          </a:xfrm>
          <a:custGeom>
            <a:avLst/>
            <a:gdLst/>
            <a:ahLst/>
            <a:cxnLst/>
            <a:rect l="l" t="t" r="r" b="b"/>
            <a:pathLst>
              <a:path w="337930" h="337930">
                <a:moveTo>
                  <a:pt x="0" y="0"/>
                </a:moveTo>
                <a:lnTo>
                  <a:pt x="337930" y="0"/>
                </a:lnTo>
                <a:lnTo>
                  <a:pt x="337930" y="337931"/>
                </a:lnTo>
                <a:lnTo>
                  <a:pt x="0" y="337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-6139153">
            <a:off x="-4017203" y="-594043"/>
            <a:ext cx="11866566" cy="12205042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28700" y="4474756"/>
            <a:ext cx="7413171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System Architecture</a:t>
            </a:r>
          </a:p>
        </p:txBody>
      </p:sp>
      <p:sp>
        <p:nvSpPr>
          <p:cNvPr id="5" name="AutoShape 5"/>
          <p:cNvSpPr/>
          <p:nvPr/>
        </p:nvSpPr>
        <p:spPr>
          <a:xfrm>
            <a:off x="10374086" y="1945473"/>
            <a:ext cx="0" cy="9501720"/>
          </a:xfrm>
          <a:prstGeom prst="line">
            <a:avLst/>
          </a:prstGeom>
          <a:ln w="9525" cap="flat">
            <a:solidFill>
              <a:srgbClr val="2B2B2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1620500" y="1607594"/>
            <a:ext cx="4846045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Multi-tier design separating UI, logic, and data.</a:t>
            </a:r>
          </a:p>
        </p:txBody>
      </p:sp>
      <p:sp>
        <p:nvSpPr>
          <p:cNvPr id="7" name="Freeform 7"/>
          <p:cNvSpPr/>
          <p:nvPr/>
        </p:nvSpPr>
        <p:spPr>
          <a:xfrm>
            <a:off x="10111339" y="1731419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111339" y="4078335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0111339" y="6318224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111339" y="8665139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1620500" y="3954510"/>
            <a:ext cx="4846045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Frontend: Flutter &amp; Dart for cross-platform UI.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20500" y="6194399"/>
            <a:ext cx="4846045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Backend: Firebase for real-time DB, authentication, AI cloud functions.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20500" y="8541314"/>
            <a:ext cx="5109450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Highlights scalability, security, and responsive UI design.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4901" y="4424362"/>
            <a:ext cx="9398198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6E6297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Models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21370" y="991777"/>
            <a:ext cx="337930" cy="337930"/>
          </a:xfrm>
          <a:custGeom>
            <a:avLst/>
            <a:gdLst/>
            <a:ahLst/>
            <a:cxnLst/>
            <a:rect l="l" t="t" r="r" b="b"/>
            <a:pathLst>
              <a:path w="337930" h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>
            <a:off x="-1066391" y="-3078191"/>
            <a:ext cx="10210391" cy="10501627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 rot="5400000">
            <a:off x="5623226" y="5881824"/>
            <a:ext cx="9501720" cy="0"/>
          </a:xfrm>
          <a:prstGeom prst="line">
            <a:avLst/>
          </a:prstGeom>
          <a:ln w="9525" cap="flat">
            <a:solidFill>
              <a:srgbClr val="2B2B2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111339" y="921673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111339" y="3268589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111339" y="5508478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111339" y="7855393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028700" y="2761925"/>
            <a:ext cx="6631640" cy="2960606"/>
            <a:chOff x="0" y="0"/>
            <a:chExt cx="8842187" cy="394747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90500"/>
              <a:ext cx="8842187" cy="300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Text Extraction Model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302104"/>
              <a:ext cx="8842187" cy="645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OCR for Text Extraction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620500" y="797848"/>
            <a:ext cx="4076092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Extracts text from medical reports.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20500" y="3144764"/>
            <a:ext cx="4076092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Preprocess the uploaded Image to be ready for text extraction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20500" y="5384653"/>
            <a:ext cx="4076092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Converts image to readable text and passes to NLP stage.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20500" y="7731568"/>
            <a:ext cx="4076092" cy="181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Uses the Extracted Data and send it using API to OpenAI for accurate classification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5973" y="1749501"/>
            <a:ext cx="3150559" cy="623873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32210" y="1749501"/>
            <a:ext cx="3150559" cy="6238730"/>
          </a:xfrm>
          <a:prstGeom prst="roundRect">
            <a:avLst/>
          </a:prstGeom>
          <a:blipFill>
            <a:blip r:embed="rId3"/>
            <a:stretch>
              <a:fillRect t="-198" r="-396" b="-198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618448" y="1749501"/>
            <a:ext cx="3150559" cy="6238730"/>
          </a:xfrm>
          <a:prstGeom prst="roundRect">
            <a:avLst/>
          </a:prstGeom>
          <a:blipFill>
            <a:blip r:embed="rId4"/>
            <a:stretch>
              <a:fillRect t="-248" b="-248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807231" y="1749501"/>
            <a:ext cx="3150559" cy="6238730"/>
          </a:xfrm>
          <a:prstGeom prst="roundRect">
            <a:avLst/>
          </a:prstGeom>
          <a:blipFill>
            <a:blip r:embed="rId5"/>
            <a:stretch>
              <a:fillRect l="-1086" t="-418" b="-418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92427" y="8243519"/>
            <a:ext cx="4057650" cy="54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Upload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7361" y="8853436"/>
            <a:ext cx="4057650" cy="1220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Start your assessment to by Uploading your Medical Report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3902" y="8243519"/>
            <a:ext cx="4057650" cy="54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Process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73902" y="8853436"/>
            <a:ext cx="4057650" cy="1220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Processing your Medical Report to Extract the Useful Information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59454" y="8243519"/>
            <a:ext cx="4057650" cy="54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Classify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64902" y="8853436"/>
            <a:ext cx="4057650" cy="1220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Showing the Extracted Information to the user for Verfication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30182" y="122613"/>
            <a:ext cx="14427636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6E6297"/>
                </a:solidFill>
                <a:latin typeface="Agrandir Bold"/>
                <a:ea typeface="Agrandir Bold"/>
                <a:cs typeface="Agrandir Bold"/>
                <a:sym typeface="Agrandir Bold"/>
              </a:rPr>
              <a:t>Classify Injury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53686" y="8245406"/>
            <a:ext cx="4057650" cy="54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Result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53686" y="8853436"/>
            <a:ext cx="4057650" cy="82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Classifying the extracted information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21370" y="991777"/>
            <a:ext cx="337930" cy="337930"/>
          </a:xfrm>
          <a:custGeom>
            <a:avLst/>
            <a:gdLst/>
            <a:ahLst/>
            <a:cxnLst/>
            <a:rect l="l" t="t" r="r" b="b"/>
            <a:pathLst>
              <a:path w="337930" h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>
            <a:off x="-1066391" y="-3078191"/>
            <a:ext cx="10210391" cy="10501627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 rot="5400000">
            <a:off x="5623226" y="5881824"/>
            <a:ext cx="9501720" cy="0"/>
          </a:xfrm>
          <a:prstGeom prst="line">
            <a:avLst/>
          </a:prstGeom>
          <a:ln w="9525" cap="flat">
            <a:solidFill>
              <a:srgbClr val="2B2B2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111339" y="921673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111339" y="3268589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111339" y="5508478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111339" y="7855393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722984" y="1687755"/>
            <a:ext cx="6631640" cy="4017881"/>
            <a:chOff x="0" y="0"/>
            <a:chExt cx="8842187" cy="535717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90500"/>
              <a:ext cx="8842187" cy="4419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Personalized Prevention Plan Model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711804"/>
              <a:ext cx="8842187" cy="645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DNN for generating personalized plan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620500" y="797848"/>
            <a:ext cx="4076092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Assigns users to one of 7 fitness levels.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20500" y="3144764"/>
            <a:ext cx="4076092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Uses Deep Neural Network (DNN).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20500" y="5384653"/>
            <a:ext cx="4076092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Inputs: Age, gender, weight, height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20500" y="7731568"/>
            <a:ext cx="4076092" cy="1320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Performance:</a:t>
            </a:r>
          </a:p>
          <a:p>
            <a:pPr marL="539753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Accuracy: 87.4%</a:t>
            </a:r>
          </a:p>
          <a:p>
            <a:pPr marL="539753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Weighted F1: 87.18%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21370" y="991777"/>
            <a:ext cx="337930" cy="337930"/>
          </a:xfrm>
          <a:custGeom>
            <a:avLst/>
            <a:gdLst/>
            <a:ahLst/>
            <a:cxnLst/>
            <a:rect l="l" t="t" r="r" b="b"/>
            <a:pathLst>
              <a:path w="337930" h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>
            <a:off x="-1066391" y="-3078191"/>
            <a:ext cx="10210391" cy="10501627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 rot="5400000">
            <a:off x="5623226" y="5881824"/>
            <a:ext cx="9501720" cy="0"/>
          </a:xfrm>
          <a:prstGeom prst="line">
            <a:avLst/>
          </a:prstGeom>
          <a:ln w="9525" cap="flat">
            <a:solidFill>
              <a:srgbClr val="2B2B2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111339" y="921673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111339" y="3268589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111339" y="5508478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111339" y="7855393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722984" y="2216392"/>
            <a:ext cx="7065967" cy="2960606"/>
            <a:chOff x="0" y="0"/>
            <a:chExt cx="9421289" cy="394747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90500"/>
              <a:ext cx="9421289" cy="300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Pose Estimation Model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302104"/>
              <a:ext cx="9421289" cy="645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MediaPipe Pose Estimation 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620500" y="797848"/>
            <a:ext cx="4076092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Real-time movement feedback during exercises.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20500" y="3144764"/>
            <a:ext cx="4076092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Uses MediaPipe Pose Estimation Model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67612" y="5384653"/>
            <a:ext cx="4510415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3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Tracks user joints</a:t>
            </a:r>
          </a:p>
          <a:p>
            <a:pPr marL="539753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compares to ideal poses</a:t>
            </a:r>
          </a:p>
          <a:p>
            <a:pPr marL="539753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provides correction.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20500" y="7731568"/>
            <a:ext cx="4076092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For Injury prevention &amp; ensuring correct form during exercises.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4901" y="4424362"/>
            <a:ext cx="9398198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6E6297"/>
                </a:solidFill>
                <a:latin typeface="Agrandir Bold"/>
                <a:ea typeface="Agrandir Bold"/>
                <a:cs typeface="Agrandir Bold"/>
                <a:sym typeface="Agrandir Bold"/>
              </a:rPr>
              <a:t>Diagrams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19972" y="1265607"/>
            <a:ext cx="12248057" cy="8772671"/>
          </a:xfrm>
          <a:custGeom>
            <a:avLst/>
            <a:gdLst/>
            <a:ahLst/>
            <a:cxnLst/>
            <a:rect l="l" t="t" r="r" b="b"/>
            <a:pathLst>
              <a:path w="12248057" h="8772671">
                <a:moveTo>
                  <a:pt x="0" y="0"/>
                </a:moveTo>
                <a:lnTo>
                  <a:pt x="12248056" y="0"/>
                </a:lnTo>
                <a:lnTo>
                  <a:pt x="12248056" y="8772670"/>
                </a:lnTo>
                <a:lnTo>
                  <a:pt x="0" y="8772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105659" y="-9575"/>
            <a:ext cx="6076683" cy="1198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64"/>
              </a:lnSpc>
            </a:pPr>
            <a:r>
              <a:rPr lang="en-US" sz="6045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Class Diagram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1212127" y="4676775"/>
            <a:ext cx="5216488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71"/>
              </a:lnSpc>
              <a:spcBef>
                <a:spcPct val="0"/>
              </a:spcBef>
            </a:pPr>
            <a:r>
              <a:rPr lang="en-US" sz="439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Diagram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21370" y="991777"/>
            <a:ext cx="337930" cy="337930"/>
          </a:xfrm>
          <a:custGeom>
            <a:avLst/>
            <a:gdLst/>
            <a:ahLst/>
            <a:cxnLst/>
            <a:rect l="l" t="t" r="r" b="b"/>
            <a:pathLst>
              <a:path w="337930" h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>
            <a:off x="-1066391" y="-3078191"/>
            <a:ext cx="10210391" cy="10501627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23177" y="3630402"/>
            <a:ext cx="7829563" cy="2159185"/>
            <a:chOff x="0" y="0"/>
            <a:chExt cx="10439417" cy="2878913"/>
          </a:xfrm>
        </p:grpSpPr>
        <p:sp>
          <p:nvSpPr>
            <p:cNvPr id="5" name="TextBox 5"/>
            <p:cNvSpPr txBox="1"/>
            <p:nvPr/>
          </p:nvSpPr>
          <p:spPr>
            <a:xfrm>
              <a:off x="0" y="-209550"/>
              <a:ext cx="10439417" cy="1698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71"/>
                </a:lnSpc>
                <a:spcBef>
                  <a:spcPct val="0"/>
                </a:spcBef>
              </a:pPr>
              <a:r>
                <a:rPr lang="en-US" sz="7393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Diagram 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58028"/>
              <a:ext cx="10439417" cy="920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244"/>
                </a:lnSpc>
              </a:pPr>
              <a:r>
                <a:rPr lang="en-US" sz="3746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Use Case Diagram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8858263" y="1028700"/>
            <a:ext cx="9194854" cy="8961782"/>
          </a:xfrm>
          <a:custGeom>
            <a:avLst/>
            <a:gdLst/>
            <a:ahLst/>
            <a:cxnLst/>
            <a:rect l="l" t="t" r="r" b="b"/>
            <a:pathLst>
              <a:path w="9194854" h="8961782">
                <a:moveTo>
                  <a:pt x="0" y="0"/>
                </a:moveTo>
                <a:lnTo>
                  <a:pt x="9194854" y="0"/>
                </a:lnTo>
                <a:lnTo>
                  <a:pt x="9194854" y="8961782"/>
                </a:lnTo>
                <a:lnTo>
                  <a:pt x="0" y="89617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37" t="-412" r="-957" b="-72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170605" y="4676775"/>
            <a:ext cx="5216488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71"/>
              </a:lnSpc>
              <a:spcBef>
                <a:spcPct val="0"/>
              </a:spcBef>
            </a:pPr>
            <a:r>
              <a:rPr lang="en-US" sz="439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Diagram 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52829" y="-19100"/>
            <a:ext cx="12182341" cy="1198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64"/>
              </a:lnSpc>
            </a:pPr>
            <a:r>
              <a:rPr lang="en-US" sz="6045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System Architecture Diagram</a:t>
            </a:r>
          </a:p>
        </p:txBody>
      </p:sp>
      <p:sp>
        <p:nvSpPr>
          <p:cNvPr id="4" name="Freeform 4"/>
          <p:cNvSpPr/>
          <p:nvPr/>
        </p:nvSpPr>
        <p:spPr>
          <a:xfrm>
            <a:off x="3115433" y="1256082"/>
            <a:ext cx="12057133" cy="8846922"/>
          </a:xfrm>
          <a:custGeom>
            <a:avLst/>
            <a:gdLst/>
            <a:ahLst/>
            <a:cxnLst/>
            <a:rect l="l" t="t" r="r" b="b"/>
            <a:pathLst>
              <a:path w="12057133" h="8846922">
                <a:moveTo>
                  <a:pt x="0" y="0"/>
                </a:moveTo>
                <a:lnTo>
                  <a:pt x="12057134" y="0"/>
                </a:lnTo>
                <a:lnTo>
                  <a:pt x="12057134" y="8846921"/>
                </a:lnTo>
                <a:lnTo>
                  <a:pt x="0" y="8846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6139153">
            <a:off x="-4017203" y="-594043"/>
            <a:ext cx="11866566" cy="12205042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8561467" y="1242753"/>
            <a:ext cx="0" cy="9501720"/>
          </a:xfrm>
          <a:prstGeom prst="line">
            <a:avLst/>
          </a:prstGeom>
          <a:ln w="9525" cap="flat">
            <a:solidFill>
              <a:srgbClr val="2B2B2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298720" y="1028700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9" y="0"/>
                </a:lnTo>
                <a:lnTo>
                  <a:pt x="535019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298720" y="3375616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9" y="0"/>
                </a:lnTo>
                <a:lnTo>
                  <a:pt x="535019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298720" y="5615504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9" y="0"/>
                </a:lnTo>
                <a:lnTo>
                  <a:pt x="535019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298720" y="7962420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9" y="0"/>
                </a:lnTo>
                <a:lnTo>
                  <a:pt x="535019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833739" y="1242753"/>
            <a:ext cx="9282996" cy="8215451"/>
          </a:xfrm>
          <a:custGeom>
            <a:avLst/>
            <a:gdLst/>
            <a:ahLst/>
            <a:cxnLst/>
            <a:rect l="l" t="t" r="r" b="b"/>
            <a:pathLst>
              <a:path w="9282996" h="8215451">
                <a:moveTo>
                  <a:pt x="0" y="0"/>
                </a:moveTo>
                <a:lnTo>
                  <a:pt x="9282996" y="0"/>
                </a:lnTo>
                <a:lnTo>
                  <a:pt x="9282996" y="8215452"/>
                </a:lnTo>
                <a:lnTo>
                  <a:pt x="0" y="821545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028700" y="4428885"/>
            <a:ext cx="6713868" cy="2159185"/>
            <a:chOff x="0" y="0"/>
            <a:chExt cx="8951824" cy="287891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209550"/>
              <a:ext cx="8951824" cy="1698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71"/>
                </a:lnSpc>
                <a:spcBef>
                  <a:spcPct val="0"/>
                </a:spcBef>
              </a:pPr>
              <a:r>
                <a:rPr lang="en-US" sz="7393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Diagram 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958028"/>
              <a:ext cx="8951824" cy="920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244"/>
                </a:lnSpc>
              </a:pPr>
              <a:r>
                <a:rPr lang="en-US" sz="3746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Sequence Diagram 1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244861" y="403492"/>
            <a:ext cx="8460752" cy="1259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59"/>
              </a:lnSpc>
            </a:pPr>
            <a:r>
              <a:rPr lang="en-US" sz="3328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Doctor Registration </a:t>
            </a:r>
          </a:p>
          <a:p>
            <a:pPr marL="0" lvl="0" indent="0" algn="ctr">
              <a:lnSpc>
                <a:spcPts val="4659"/>
              </a:lnSpc>
            </a:pPr>
            <a:endParaRPr lang="en-US" sz="3328" b="1">
              <a:solidFill>
                <a:srgbClr val="2B2B2B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6139153">
            <a:off x="-4017203" y="-594043"/>
            <a:ext cx="11866566" cy="12205042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8561467" y="1242753"/>
            <a:ext cx="0" cy="9501720"/>
          </a:xfrm>
          <a:prstGeom prst="line">
            <a:avLst/>
          </a:prstGeom>
          <a:ln w="9525" cap="flat">
            <a:solidFill>
              <a:srgbClr val="2B2B2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298720" y="1028700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9" y="0"/>
                </a:lnTo>
                <a:lnTo>
                  <a:pt x="535019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298720" y="3375616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9" y="0"/>
                </a:lnTo>
                <a:lnTo>
                  <a:pt x="535019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298720" y="5615504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9" y="0"/>
                </a:lnTo>
                <a:lnTo>
                  <a:pt x="535019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298720" y="7962420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9" y="0"/>
                </a:lnTo>
                <a:lnTo>
                  <a:pt x="535019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048750" y="1125602"/>
            <a:ext cx="8777760" cy="8979805"/>
          </a:xfrm>
          <a:custGeom>
            <a:avLst/>
            <a:gdLst/>
            <a:ahLst/>
            <a:cxnLst/>
            <a:rect l="l" t="t" r="r" b="b"/>
            <a:pathLst>
              <a:path w="8777760" h="8979805">
                <a:moveTo>
                  <a:pt x="0" y="0"/>
                </a:moveTo>
                <a:lnTo>
                  <a:pt x="8777760" y="0"/>
                </a:lnTo>
                <a:lnTo>
                  <a:pt x="8777760" y="8979805"/>
                </a:lnTo>
                <a:lnTo>
                  <a:pt x="0" y="89798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028700" y="4428885"/>
            <a:ext cx="6713868" cy="2159185"/>
            <a:chOff x="0" y="0"/>
            <a:chExt cx="8951824" cy="287891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209550"/>
              <a:ext cx="8951824" cy="1698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71"/>
                </a:lnSpc>
                <a:spcBef>
                  <a:spcPct val="0"/>
                </a:spcBef>
              </a:pPr>
              <a:r>
                <a:rPr lang="en-US" sz="7393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Diagram 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958028"/>
              <a:ext cx="8951824" cy="920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244"/>
                </a:lnSpc>
              </a:pPr>
              <a:r>
                <a:rPr lang="en-US" sz="3746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Sequence Diagram 2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440826" y="581228"/>
            <a:ext cx="9955507" cy="60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39"/>
              </a:lnSpc>
            </a:pPr>
            <a:r>
              <a:rPr lang="en-US" sz="3028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Rehabilitation Management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4901" y="4424362"/>
            <a:ext cx="9398198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6E6297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Conclusion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14142" y="1960677"/>
            <a:ext cx="603444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Deve</a:t>
            </a:r>
            <a:r>
              <a:rPr lang="en-US" sz="2600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loped an AI-powered digital health platform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14142" y="3540761"/>
            <a:ext cx="603444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Integ</a:t>
            </a:r>
            <a:r>
              <a:rPr lang="en-US" sz="2600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rated OCR, NLP, and OpenAI models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014142" y="5122546"/>
            <a:ext cx="603444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</a:t>
            </a:r>
            <a:r>
              <a:rPr lang="en-US" sz="2600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ntroduced personalized injury prevention plan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2386853">
            <a:off x="-3305272" y="-1267467"/>
            <a:ext cx="14322769" cy="13230153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901" y="1429417"/>
            <a:ext cx="8651346" cy="7821133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0014142" y="6704331"/>
            <a:ext cx="603444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Enabled physician-supervised digital rehab plans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14142" y="8057515"/>
            <a:ext cx="6034442" cy="1429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Demo</a:t>
            </a:r>
            <a:r>
              <a:rPr lang="en-US" sz="2600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nstrated a scalable framework that can extend to other medical fields.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4901" y="4424362"/>
            <a:ext cx="9398198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6E6297"/>
                </a:solidFill>
                <a:latin typeface="Agrandir Bold"/>
                <a:ea typeface="Agrandir Bold"/>
                <a:cs typeface="Agrandir Bold"/>
                <a:sym typeface="Agrandir Bold"/>
              </a:rPr>
              <a:t> Future Work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21370" y="991777"/>
            <a:ext cx="337930" cy="337930"/>
          </a:xfrm>
          <a:custGeom>
            <a:avLst/>
            <a:gdLst/>
            <a:ahLst/>
            <a:cxnLst/>
            <a:rect l="l" t="t" r="r" b="b"/>
            <a:pathLst>
              <a:path w="337930" h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-6139153">
            <a:off x="-4017203" y="-594043"/>
            <a:ext cx="11866566" cy="12205042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28700" y="5003394"/>
            <a:ext cx="7413171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Future Work</a:t>
            </a:r>
          </a:p>
        </p:txBody>
      </p:sp>
      <p:sp>
        <p:nvSpPr>
          <p:cNvPr id="5" name="AutoShape 5"/>
          <p:cNvSpPr/>
          <p:nvPr/>
        </p:nvSpPr>
        <p:spPr>
          <a:xfrm rot="5400000">
            <a:off x="5623226" y="5881824"/>
            <a:ext cx="9501720" cy="0"/>
          </a:xfrm>
          <a:prstGeom prst="line">
            <a:avLst/>
          </a:prstGeom>
          <a:ln w="9525" cap="flat">
            <a:solidFill>
              <a:srgbClr val="2B2B2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1620500" y="797848"/>
            <a:ext cx="4846045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Expand the platform to cover all major musculoskeletal conditions</a:t>
            </a:r>
          </a:p>
        </p:txBody>
      </p:sp>
      <p:sp>
        <p:nvSpPr>
          <p:cNvPr id="7" name="Freeform 7"/>
          <p:cNvSpPr/>
          <p:nvPr/>
        </p:nvSpPr>
        <p:spPr>
          <a:xfrm>
            <a:off x="10111339" y="921673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111339" y="3268589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0111339" y="5508478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111339" y="7855393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1620500" y="3144764"/>
            <a:ext cx="4846045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Integrate AI-powered pose estimation into all strengthening exercises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20500" y="5384653"/>
            <a:ext cx="4846045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Achieve fully autonomous supervision using advanced computer vision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20500" y="7731568"/>
            <a:ext cx="5109450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Evolve into a scalable, publication-ready, and commercially viable digital health ecosystem.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1662681" y="-6438340"/>
            <a:ext cx="13761077" cy="1415359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4911263" y="4219178"/>
            <a:ext cx="8465475" cy="1848644"/>
            <a:chOff x="0" y="0"/>
            <a:chExt cx="11287299" cy="2464859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0"/>
              <a:ext cx="11287299" cy="160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399"/>
                </a:lnSpc>
                <a:spcBef>
                  <a:spcPct val="0"/>
                </a:spcBef>
              </a:pPr>
              <a:r>
                <a:rPr lang="en-US" sz="6999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Thank you!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819487"/>
              <a:ext cx="11287299" cy="645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40"/>
                </a:lnSpc>
              </a:pPr>
              <a:endParaRPr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25000"/>
          </a:blip>
          <a:srcRect/>
          <a:stretch>
            <a:fillRect/>
          </a:stretch>
        </p:blipFill>
        <p:spPr>
          <a:xfrm rot="-3435299">
            <a:off x="-3167656" y="638455"/>
            <a:ext cx="6335313" cy="70767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522</Words>
  <Application>Microsoft Office PowerPoint</Application>
  <PresentationFormat>Custom</PresentationFormat>
  <Paragraphs>116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Agrandir Bold</vt:lpstr>
      <vt:lpstr>Arial</vt:lpstr>
      <vt:lpstr>Agrandir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Physio-Therapy</dc:title>
  <dc:creator>Moaz</dc:creator>
  <cp:lastModifiedBy>Moaz Mahmoud</cp:lastModifiedBy>
  <cp:revision>4</cp:revision>
  <dcterms:created xsi:type="dcterms:W3CDTF">2006-08-16T00:00:00Z</dcterms:created>
  <dcterms:modified xsi:type="dcterms:W3CDTF">2025-06-13T19:13:57Z</dcterms:modified>
  <dc:identifier>DAGgO_UKMcY</dc:identifier>
</cp:coreProperties>
</file>